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92608" cy="292608"/>
          </a:xfrm>
          <a:prstGeom prst="round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Georgia"/>
              </a:rPr>
              <a:t>AwazSetu</a:t>
            </a:r>
            <a:r>
              <a:rPr sz="1300" b="0">
                <a:solidFill>
                  <a:srgbClr val="6B6B6B"/>
                </a:solidFill>
                <a:latin typeface="Calibri"/>
              </a:rPr>
              <a:t>   Built for BAIF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"/>
            <a:ext cx="1554480" cy="384048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512064"/>
            <a:ext cx="15544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Tech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1A1A1A"/>
                </a:solidFill>
                <a:latin typeface="Georgia"/>
              </a:rPr>
              <a:t>The video is in Hindi.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Georgia"/>
              </a:rPr>
              <a:t>The farmer speaks Marathi.  </a:t>
            </a:r>
            <a:r>
              <a:rPr sz="3000" b="1">
                <a:solidFill>
                  <a:srgbClr val="B01C24"/>
                </a:solidFill>
                <a:latin typeface="Georgia"/>
              </a:rPr>
              <a:t>The internet isn’t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An offline desktop app that transcribes, translates and dubs audio, video or text across Hindi · Marathi · English — with switchable subtitles and on-demand voiceover, and now chat &amp; voice: ask the video a question and hear the answer, entirely on-device.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3474720" cy="141732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B01C24"/>
                </a:solidFill>
                <a:latin typeface="Georgia"/>
              </a:rPr>
              <a:t>83M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native Marathi speakers (2011 Census) — most agri material is English or Hindi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3794760"/>
            <a:ext cx="3474720" cy="141732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9319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B01C24"/>
                </a:solidFill>
                <a:latin typeface="Georgia"/>
              </a:rPr>
              <a:t>~85%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617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of Indians don’t use English even as a second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794760"/>
            <a:ext cx="3474720" cy="1417320"/>
          </a:xfrm>
          <a:prstGeom prst="roundRect">
            <a:avLst/>
          </a:prstGeom>
          <a:solidFill>
            <a:srgbClr val="B01C24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9319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617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Mbps internet needed — the app runs fully on-device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44768"/>
            <a:ext cx="10332720" cy="475488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08776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Watch it in your language — and ask it anything, out loud.   Hindi · Marathi · English   —   audio · video ·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B01C24"/>
                </a:solidFill>
                <a:latin typeface="Georgia"/>
              </a:rPr>
              <a:t>USER JOURNEY &amp; 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1A1A"/>
                </a:solidFill>
                <a:latin typeface="Georgia"/>
              </a:rPr>
              <a:t>What the user does, and what runs underneath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572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Calibri"/>
              </a:rPr>
              <a:t>USER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1C24"/>
                </a:solidFill>
                <a:latin typeface="Calibri"/>
              </a:rPr>
              <a:t>THE USER  (village-centre laptop)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02920" cy="502920"/>
          </a:xfrm>
          <a:prstGeom prst="round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02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93392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Uploads 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95728"/>
            <a:ext cx="4114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Drops in an audio clip or a Hindi agri video; picks the languages.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502920" cy="502920"/>
          </a:xfrm>
          <a:prstGeom prst="round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2"/>
            <a:ext cx="502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27832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Watches in their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30168"/>
            <a:ext cx="4114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Plays it and flips subtitles / voiceover between Hindi · Marathi · English on the fly.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502920" cy="502920"/>
          </a:xfrm>
          <a:prstGeom prst="round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53712"/>
            <a:ext cx="502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62272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Asks the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8"/>
            <a:ext cx="4114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Types or 🎙 speaks a question → a grounded answer in their language, spoken aloud, with jump-to-timestamp.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6002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1C24"/>
                </a:solidFill>
                <a:latin typeface="Calibri"/>
              </a:rPr>
              <a:t>WHAT RUNS PER REQUEST  (all on-device)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965960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057400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020824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Detect &amp; demux  </a:t>
            </a:r>
            <a:r>
              <a:rPr sz="1100" b="0">
                <a:solidFill>
                  <a:srgbClr val="6B6B6B"/>
                </a:solidFill>
                <a:latin typeface="Calibri"/>
              </a:rPr>
              <a:t>route by type; FFmpeg → 16 kHz mono audio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624328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715768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79192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Cache check  </a:t>
            </a:r>
            <a:r>
              <a:rPr sz="1100" b="0">
                <a:solidFill>
                  <a:srgbClr val="6B6B6B"/>
                </a:solidFill>
                <a:latin typeface="Calibri"/>
              </a:rPr>
              <a:t>SHA-256 the source; if seen, reuse — skip all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282696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374136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337560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Segment (VAD)  </a:t>
            </a:r>
            <a:r>
              <a:rPr sz="1100" b="0">
                <a:solidFill>
                  <a:srgbClr val="6B6B6B"/>
                </a:solidFill>
                <a:latin typeface="Calibri"/>
              </a:rPr>
              <a:t>split on voice activity — one short chunk in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941064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032504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995928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ASR → MT → subs/dub  </a:t>
            </a:r>
            <a:r>
              <a:rPr sz="1100" b="0">
                <a:solidFill>
                  <a:srgbClr val="6B6B6B"/>
                </a:solidFill>
                <a:latin typeface="Calibri"/>
              </a:rPr>
              <a:t>transcribe, translate, switchable subtitles + on-demand voice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599431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690871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654295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Index for chat  </a:t>
            </a:r>
            <a:r>
              <a:rPr sz="1100" b="0">
                <a:solidFill>
                  <a:srgbClr val="6B6B6B"/>
                </a:solidFill>
                <a:latin typeface="Calibri"/>
              </a:rPr>
              <a:t>embed the transcript into the local knowledge 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5257800"/>
            <a:ext cx="5696712" cy="585216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349240"/>
            <a:ext cx="365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1C24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312664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Answer  </a:t>
            </a:r>
            <a:r>
              <a:rPr sz="1100" b="0">
                <a:solidFill>
                  <a:srgbClr val="6B6B6B"/>
                </a:solidFill>
                <a:latin typeface="Calibri"/>
              </a:rPr>
              <a:t>retrieve top lines + local LLM → grounded reply, spoken 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144768"/>
            <a:ext cx="10332720" cy="475488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208776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Zero-config for the farmer: one action per screen · large icon-led buttons · local-language labels · no login.   Operators get an advanced Settings page.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B01C24"/>
                </a:solidFill>
                <a:latin typeface="Georgia"/>
              </a:rPr>
              <a:t>SOLUTION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1A1A"/>
                </a:solidFill>
                <a:latin typeface="Georgia"/>
              </a:rPr>
              <a:t>Low-level design — offline &amp; open-source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572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572768"/>
            <a:ext cx="9601200" cy="566928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73352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Desktop UI (Flask + HTML5, localhost)</a:t>
            </a:r>
            <a:r>
              <a:rPr sz="1200" b="0">
                <a:solidFill>
                  <a:srgbClr val="6B6B6B"/>
                </a:solidFill>
                <a:latin typeface="Calibri"/>
              </a:rPr>
              <a:t>  — upload · live language switch · chat &amp; voice pane ·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304288"/>
            <a:ext cx="9601200" cy="566928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404872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Request Orchestrator (Python)</a:t>
            </a:r>
            <a:r>
              <a:rPr sz="1200" b="0">
                <a:solidFill>
                  <a:srgbClr val="D9D9D9"/>
                </a:solidFill>
                <a:latin typeface="Calibri"/>
              </a:rPr>
              <a:t>   routes by input type · checks cache first · staged model loading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2084831" cy="123444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8211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2958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faster-whisper INT8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416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1C24"/>
                </a:solidFill>
                <a:latin typeface="Calibri"/>
              </a:rPr>
              <a:t>audio →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3063240"/>
            <a:ext cx="2084831" cy="123444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318211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Translate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52958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NLLB-200 INT8 (default)
IndicTrans2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0416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1C24"/>
                </a:solidFill>
                <a:latin typeface="Calibri"/>
              </a:rPr>
              <a:t>hi ↔ en ↔ mr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3063240"/>
            <a:ext cx="2084831" cy="123444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3" y="318211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3" y="352958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BM25 + qwen2.5 (Ollama)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3" y="40416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1C24"/>
                </a:solidFill>
                <a:latin typeface="Calibri"/>
              </a:rPr>
              <a:t>grounded RAG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2048" y="3063240"/>
            <a:ext cx="2084831" cy="123444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18211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Speak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52958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MMS-TTS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0416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1C24"/>
                </a:solidFill>
                <a:latin typeface="Calibri"/>
              </a:rPr>
              <a:t>text → speech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3184" y="3063240"/>
            <a:ext cx="2084831" cy="123444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7776" y="318211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3529584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FFmpeg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40416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1C24"/>
                </a:solidFill>
                <a:latin typeface="Calibri"/>
              </a:rPr>
              <a:t>switchable subs + dub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36008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PERSISTENCE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4498848"/>
            <a:ext cx="9601200" cy="5486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590288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Searchable Knowledge Library (SQLite / local)</a:t>
            </a:r>
            <a:r>
              <a:rPr sz="1200" b="0">
                <a:solidFill>
                  <a:srgbClr val="D9D9D9"/>
                </a:solidFill>
                <a:latin typeface="Calibri"/>
              </a:rPr>
              <a:t>   source-hash cache · transcript chunks &amp; embeddings · local 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3520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Fits 16 GB / i5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INT8 weights + VAD chunks + staged loading — chat models never co-resident with ASR/MT/TTS; peak RAM stays flat.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5212080"/>
            <a:ext cx="3520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Truly offline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553212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All model weights local; the app makes zero network calls at runtime.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5212080"/>
            <a:ext cx="3520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Cheap to re-run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53212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SHA-256 of the source keys the library; exact &amp; near-duplicate inputs skip the models.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B01C24"/>
                </a:solidFill>
                <a:latin typeface="Georgia"/>
              </a:rPr>
              <a:t>UNDERSTAND IT, DON’T JUST TRANSLATE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1A1A"/>
                </a:solidFill>
                <a:latin typeface="Georgia"/>
              </a:rPr>
              <a:t>Chat &amp; voice — the accessibility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572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Calibri"/>
              </a:rPr>
              <a:t>CHAT &amp;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57400" cy="6400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645920"/>
            <a:ext cx="320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01C24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554480"/>
            <a:ext cx="2057400" cy="6400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local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45920"/>
            <a:ext cx="320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01C24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554480"/>
            <a:ext cx="2057400" cy="640080"/>
          </a:xfrm>
          <a:prstGeom prst="roundRect">
            <a:avLst/>
          </a:prstGeom>
          <a:solidFill>
            <a:srgbClr val="B01C24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ask (type or 🎙 speak)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645920"/>
            <a:ext cx="320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01C24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1554480"/>
            <a:ext cx="2057400" cy="6400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grounded answer in your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1645920"/>
            <a:ext cx="320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01C24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2912" y="1554480"/>
            <a:ext cx="2057400" cy="640080"/>
          </a:xfrm>
          <a:prstGeom prst="roundRect">
            <a:avLst/>
          </a:prstGeom>
          <a:solidFill>
            <a:srgbClr val="B01C24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🔊 heard aloud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468880"/>
            <a:ext cx="5486400" cy="160020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06040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1C24"/>
                </a:solidFill>
                <a:latin typeface="Calibri"/>
              </a:rPr>
              <a:t>HERO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2608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 Hindi PM-KISAN scheme video. A Marathi farmer speaks: “मला या योजनेचा लाभ मिळेल का?” → AwazSetu answers from the video, in Marathi, aloud — offline.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468880"/>
            <a:ext cx="5468112" cy="1600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0B0B4"/>
                </a:solidFill>
                <a:latin typeface="Calibri"/>
              </a:rPr>
              <a:t>WHY IT MATTERS — LITERACY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Text chat quietly needs literacy. Voice doesn’t. Speak-and-hear is what makes AwazSetu work for the farmer who can’t read or type — not a convenience, the whole point.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51960"/>
            <a:ext cx="11091672" cy="658368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708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Zero new models.  </a:t>
            </a:r>
            <a:r>
              <a:rPr sz="1250" b="0">
                <a:solidFill>
                  <a:srgbClr val="1A1A1A"/>
                </a:solidFill>
                <a:latin typeface="Calibri"/>
              </a:rPr>
              <a:t>The same Whisper that transcribes the video also hears you; the same MMS-TTS that dubs also speaks the answer; the same library grounds the chat.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20640"/>
            <a:ext cx="365760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75503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Grounded — only from this video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1103" y="5120640"/>
            <a:ext cx="365760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1103" y="5175503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Fully offline — zero network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7" y="5120640"/>
            <a:ext cx="365760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7" y="5175503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Fits 16 GB — staged loading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44768"/>
            <a:ext cx="10332720" cy="475488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208776"/>
            <a:ext cx="9875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Type or talk · answers in Hindi · Marathi · English · with a jump-to-timestamp · no open-web, no hallucinated facts.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B01C24"/>
                </a:solidFill>
                <a:latin typeface="Georgia"/>
              </a:rPr>
              <a:t>DATASET &amp; TRANSLATION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1A1A"/>
                </a:solidFill>
                <a:latin typeface="Georgia"/>
              </a:rPr>
              <a:t>Domain-tuned for 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572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Calibri"/>
              </a:rPr>
              <a:t>DATA &amp;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91440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8216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Public, licence-clear agri corpora: ICAR / KVK material, farmer-helpline transcripts, open captions (hi / mr / en).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6766560" cy="91440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Align &amp; glossary  ·  shipped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99816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Curate a term glossary (crop, pest, irrigation) used as source-side post-correction so field terms 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48456"/>
            <a:ext cx="6766560" cy="91440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Domain-adapt  · 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23944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LoRA fine-tune IndicTrans2 on aligned pairs; verify hi ↔ mr runs as a direct pair, not pivoted through 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72584"/>
            <a:ext cx="6766560" cy="91440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48072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Held-out agri set: chrF/BLEU + glossary-hit ≥ 90%; chat groundedness / refusal-when-unknown; native-speaker fluency.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600200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1C24"/>
                </a:solidFill>
                <a:latin typeface="Calibri"/>
              </a:rPr>
              <a:t>SUPPORTED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011680"/>
            <a:ext cx="3959352" cy="749808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30552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Audio   </a:t>
            </a:r>
            <a:r>
              <a:rPr sz="1100" b="0">
                <a:solidFill>
                  <a:srgbClr val="6B6B6B"/>
                </a:solidFill>
                <a:latin typeface="Calibri"/>
              </a:rPr>
              <a:t>field recordings &amp; training guides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880360"/>
            <a:ext cx="3959352" cy="749808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999232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Video   </a:t>
            </a:r>
            <a:r>
              <a:rPr sz="1100" b="0">
                <a:solidFill>
                  <a:srgbClr val="6B6B6B"/>
                </a:solidFill>
                <a:latin typeface="Calibri"/>
              </a:rPr>
              <a:t>agri demo videos — .mp4 / .mkv, 720p/1080p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749039"/>
            <a:ext cx="3959352" cy="749808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867911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1C24"/>
                </a:solidFill>
                <a:latin typeface="Calibri"/>
              </a:rPr>
              <a:t>Limits   </a:t>
            </a:r>
            <a:r>
              <a:rPr sz="1100" b="0">
                <a:solidFill>
                  <a:srgbClr val="6B6B6B"/>
                </a:solidFill>
                <a:latin typeface="Calibri"/>
              </a:rPr>
              <a:t>target ≤ 15 min · ≤ 200 MB per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4663440"/>
            <a:ext cx="3959352" cy="1051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791456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Searchable knowledge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138928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Calibri"/>
              </a:rPr>
              <a:t>Results kept &amp; indexed; near-duplicate sources are served from the library — nothing is translated twice.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B01C24"/>
                </a:solidFill>
                <a:latin typeface="Georgia"/>
              </a:rPr>
              <a:t>EXECUTION PLAN &amp; WHAT’S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1A1A"/>
                </a:solidFill>
                <a:latin typeface="Georgia"/>
              </a:rPr>
              <a:t>From plan to a working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4572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20440" cy="10972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7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01C24"/>
                </a:solidFill>
                <a:latin typeface="Calibri"/>
              </a:rPr>
              <a:t>✓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offline ASR + translation on target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554480"/>
            <a:ext cx="3520440" cy="10972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64207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01C24"/>
                </a:solidFill>
                <a:latin typeface="Calibri"/>
              </a:rPr>
              <a:t>✓ Core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text + audio path end-to-end; cache + glossary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520440" cy="10972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664207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01C24"/>
                </a:solidFill>
                <a:latin typeface="Calibri"/>
              </a:rPr>
              <a:t>✓ Video + 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057400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switchable subtitles + on-demand voiceover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3520440" cy="10972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986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01C24"/>
                </a:solidFill>
                <a:latin typeface="Calibri"/>
              </a:rPr>
              <a:t>✓ Chat + 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39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grounded RAG + local LLM; speak &amp; hear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2788920"/>
            <a:ext cx="3520440" cy="1097280"/>
          </a:xfrm>
          <a:prstGeom prst="roundRect">
            <a:avLst/>
          </a:prstGeom>
          <a:solidFill>
            <a:srgbClr val="FAFAF8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8986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01C24"/>
                </a:solidFill>
                <a:latin typeface="Calibri"/>
              </a:rPr>
              <a:t>✓ Harden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91839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staged loading; NLLB self-sufficient; Settings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788920"/>
            <a:ext cx="3520440" cy="1097280"/>
          </a:xfrm>
          <a:prstGeom prst="roundRect">
            <a:avLst/>
          </a:prstGeom>
          <a:solidFill>
            <a:srgbClr val="B01C24"/>
          </a:solidFill>
          <a:ln w="9525">
            <a:solidFill>
              <a:srgbClr val="E2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289864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→ 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291839"/>
            <a:ext cx="3200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.exe packaging · agri demo · 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1C24"/>
                </a:solidFill>
                <a:latin typeface="Calibri"/>
              </a:rPr>
              <a:t>TEAM OF 5</a:t>
            </a:r>
            <a:r>
              <a:rPr sz="1200" b="0">
                <a:solidFill>
                  <a:srgbClr val="1A1A1A"/>
                </a:solidFill>
                <a:latin typeface="Calibri"/>
              </a:rPr>
              <a:t>    ML / Translation  ·  App / Pipeline  ·  Media / QA +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Top risks (status):  </a:t>
            </a:r>
            <a:r>
              <a:rPr sz="1150" b="0">
                <a:solidFill>
                  <a:srgbClr val="6B6B6B"/>
                </a:solidFill>
                <a:latin typeface="Calibri"/>
              </a:rPr>
              <a:t>small-LLM Indic answers → strict grounding + Sarvam-1 (roadmap)  ·  Marathi TTS → MMS voices shipped  ·  memory on i5 → INT8 + staged loading (solved)  ·  IndicTrans2 quality → optional after login (NLLB is the offline default)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32120"/>
            <a:ext cx="214884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86983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100% offline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70632" y="5532120"/>
            <a:ext cx="214884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5586983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100% open-source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92624" y="5532120"/>
            <a:ext cx="214884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2624" y="5586983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chat &amp; voice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14616" y="5532120"/>
            <a:ext cx="214884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14616" y="5586983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Windows · i5 / 16 GB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5532120"/>
            <a:ext cx="2148840" cy="457200"/>
          </a:xfrm>
          <a:prstGeom prst="roundRect">
            <a:avLst/>
          </a:prstGeom>
          <a:solidFill>
            <a:srgbClr val="F6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5586983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1C24"/>
                </a:solidFill>
                <a:latin typeface="Calibri"/>
              </a:rPr>
              <a:t>≤ 200 MB · .mp4/.mkv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2636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B6B"/>
                </a:solidFill>
                <a:latin typeface="Calibr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